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403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914400"/>
            <a:ext cx="109728" cy="4480560"/>
          </a:xfrm>
          <a:prstGeom prst="rect">
            <a:avLst/>
          </a:prstGeom>
          <a:solidFill>
            <a:srgbClr val="4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051560"/>
            <a:ext cx="9483302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5F7FA"/>
                </a:solidFill>
              </a:defRPr>
            </a:pPr>
            <a:r>
              <a:rPr dirty="0"/>
              <a:t>SENTIMENT ANALYSIS OF ONLINE HOTEL </a:t>
            </a:r>
            <a:r>
              <a:rPr dirty="0" smtClean="0"/>
              <a:t>REVIEWS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85315" y="2136203"/>
            <a:ext cx="9978411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rPr dirty="0"/>
              <a:t>• GISMA University of Applied Sciences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rPr dirty="0"/>
              <a:t>• Department of Computer &amp; Data Sciences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rPr dirty="0" smtClean="0"/>
              <a:t>• </a:t>
            </a:r>
            <a:r>
              <a:rPr dirty="0" err="1"/>
              <a:t>Kunal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 •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Online reviews contain large amounts of unstructured data about customers’ experience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 smtClean="0"/>
              <a:t>With </a:t>
            </a:r>
            <a:r>
              <a:rPr lang="en-US" dirty="0"/>
              <a:t>the increase in the number of reviews, analyzing them manually becomes increasingly difficult. </a:t>
            </a:r>
            <a:endParaRPr lang="en-US" dirty="0" smtClean="0"/>
          </a:p>
          <a:p>
            <a:pPr>
              <a:lnSpc>
                <a:spcPct val="150000"/>
              </a:lnSpc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 smtClean="0"/>
              <a:t>However</a:t>
            </a:r>
            <a:r>
              <a:rPr lang="en-US" dirty="0"/>
              <a:t>, NLP and machine learning provide means for converting reviews into structured data for analysis. </a:t>
            </a:r>
            <a:endParaRPr lang="en-US" dirty="0" smtClean="0"/>
          </a:p>
          <a:p>
            <a:pPr>
              <a:lnSpc>
                <a:spcPct val="150000"/>
              </a:lnSpc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 smtClean="0"/>
              <a:t>This </a:t>
            </a:r>
            <a:r>
              <a:rPr lang="en-US" dirty="0"/>
              <a:t>research is going to combine sentiment analysis and analysis of recurring aspects about hotels. </a:t>
            </a:r>
            <a:endParaRPr lang="en-US" dirty="0" smtClean="0"/>
          </a:p>
          <a:p>
            <a:pPr>
              <a:lnSpc>
                <a:spcPct val="150000"/>
              </a:lnSpc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 smtClean="0"/>
              <a:t>For </a:t>
            </a:r>
            <a:r>
              <a:rPr lang="en-US" dirty="0"/>
              <a:t>this purpose, online hotel reviews and reviewers' ratings will be analyzed from both positive and negative perspectives.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Aim, Objectives &amp;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1" y="1600200"/>
            <a:ext cx="4928616" cy="1371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 b="1">
                <a:solidFill>
                  <a:srgbClr val="40B4AA"/>
                </a:solidFill>
              </a:defRPr>
            </a:pPr>
            <a:r>
              <a:rPr dirty="0"/>
              <a:t>Aim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700" b="1">
                <a:solidFill>
                  <a:srgbClr val="40B4AA"/>
                </a:solidFill>
              </a:defRPr>
            </a:pPr>
            <a:r>
              <a:rPr sz="1280" b="1" dirty="0">
                <a:solidFill>
                  <a:srgbClr val="F5F7FA"/>
                </a:solidFill>
              </a:rPr>
              <a:t>• </a:t>
            </a:r>
            <a:r>
              <a:rPr lang="en-US" sz="1280" b="1" dirty="0">
                <a:solidFill>
                  <a:srgbClr val="F5F7FA"/>
                </a:solidFill>
              </a:rPr>
              <a:t>Sentiment analysis of online hotel reviews using machine learning techniques, along with determination of hotel characteristics affecting customer experience.</a:t>
            </a:r>
            <a:endParaRPr sz="1280" b="1" dirty="0">
              <a:solidFill>
                <a:srgbClr val="F5F7F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28232" y="1627632"/>
            <a:ext cx="4928616" cy="1732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rPr lang="en-US" dirty="0"/>
              <a:t>Objectives</a:t>
            </a:r>
          </a:p>
          <a:p>
            <a:pPr>
              <a:defRPr sz="1700" b="1">
                <a:solidFill>
                  <a:srgbClr val="40B4AA"/>
                </a:solidFill>
              </a:defRPr>
            </a:pPr>
            <a:r>
              <a:rPr lang="en-US" sz="1280" dirty="0">
                <a:solidFill>
                  <a:srgbClr val="F5F7FA"/>
                </a:solidFill>
              </a:rPr>
              <a:t>- Prepare and organize review data for analysis</a:t>
            </a:r>
          </a:p>
          <a:p>
            <a:pPr>
              <a:defRPr sz="1700" b="1">
                <a:solidFill>
                  <a:srgbClr val="40B4AA"/>
                </a:solidFill>
              </a:defRPr>
            </a:pPr>
            <a:r>
              <a:rPr lang="en-US" sz="1280" dirty="0">
                <a:solidFill>
                  <a:srgbClr val="F5F7FA"/>
                </a:solidFill>
              </a:rPr>
              <a:t>- Create binary sentiment labels</a:t>
            </a:r>
          </a:p>
          <a:p>
            <a:pPr>
              <a:defRPr sz="1700" b="1">
                <a:solidFill>
                  <a:srgbClr val="40B4AA"/>
                </a:solidFill>
              </a:defRPr>
            </a:pPr>
            <a:r>
              <a:rPr lang="en-US" sz="1280" dirty="0">
                <a:solidFill>
                  <a:srgbClr val="F5F7FA"/>
                </a:solidFill>
              </a:rPr>
              <a:t>- Utilize TF-IDF as the text representation technique</a:t>
            </a:r>
          </a:p>
          <a:p>
            <a:pPr>
              <a:defRPr sz="1700" b="1">
                <a:solidFill>
                  <a:srgbClr val="40B4AA"/>
                </a:solidFill>
              </a:defRPr>
            </a:pPr>
            <a:r>
              <a:rPr lang="en-US" sz="1280" dirty="0">
                <a:solidFill>
                  <a:srgbClr val="F5F7FA"/>
                </a:solidFill>
              </a:rPr>
              <a:t>- Compare the accuracy of the Logistic Regression, Multinomial Naïve Bayes, and Random Forest classifiers</a:t>
            </a:r>
          </a:p>
          <a:p>
            <a:pPr>
              <a:defRPr sz="1700" b="1">
                <a:solidFill>
                  <a:srgbClr val="40B4AA"/>
                </a:solidFill>
              </a:defRPr>
            </a:pPr>
            <a:r>
              <a:rPr lang="en-US" sz="1280" dirty="0">
                <a:solidFill>
                  <a:srgbClr val="F5F7FA"/>
                </a:solidFill>
              </a:rPr>
              <a:t>- Recognize repetitive textual features related to positive and negative sentiments</a:t>
            </a:r>
            <a:endParaRPr sz="1280" dirty="0">
              <a:solidFill>
                <a:srgbClr val="F5F7F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rPr dirty="0"/>
              <a:t>Research focus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How effectively can ML classify hotel-review sentiment?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Which textual features are associated with positive and negative sentiment?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Which hotel-related factors recur across sentiment groups?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22880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rPr dirty="0" smtClean="0"/>
              <a:t>Related </a:t>
            </a:r>
            <a:r>
              <a:rPr dirty="0"/>
              <a:t>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Past research shows that there has been a rising trend towards the adoption of AI, NLP, and machine learning in tourism and hospitality analytics.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 smtClean="0"/>
              <a:t>The </a:t>
            </a:r>
            <a:r>
              <a:rPr lang="en-US" dirty="0"/>
              <a:t>aspects covered by hotel reviews range from the hotel's staff, rooms, location, breakfast, cleanliness, facilities, and cost-effectiveness of the stay at the hotel.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 smtClean="0"/>
              <a:t>Classical </a:t>
            </a:r>
            <a:r>
              <a:rPr lang="en-US" dirty="0"/>
              <a:t>text classification techniques remain computationally feasible when applied to large-term TF-IDF features.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 smtClean="0"/>
              <a:t>Modern </a:t>
            </a:r>
            <a:r>
              <a:rPr lang="en-US" dirty="0"/>
              <a:t>transformer and LLM approaches provide room for contextual modeling; nevertheless, the latter raises additional computational and reproducibility challenges.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 smtClean="0"/>
              <a:t>Therefore</a:t>
            </a:r>
            <a:r>
              <a:rPr lang="en-US" dirty="0"/>
              <a:t>, this dissertation considers classical approaches as the empirical foundation, with the latter being separately considered in the implementation section.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3 • Approach: Dataset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Original dataset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515,738 observations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17 variables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Hotel, reviewer, review text, ratings, dates and related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Cleaning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Positive_Review + Negative_Review → Review_text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424 observations without meaningful review text removed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Duplicates removed using combined review text and reviewer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Final analytical sample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503,433 after duplicate removal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50,000 reviews selected for modelling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40,000 training + 10,000 testing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Sentiment labels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Rating ≥ 7.0 → Positive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Rating &lt; 7.0 → Negative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Final sample: 41,485 positive / 8,515 negative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Technical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rPr lang="en-US" dirty="0"/>
              <a:t>- Hotel Reviews Data Set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Assessment of text quality and detection of duplicates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Sentiment binary classification depending on ratings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Stratified sampling to achieve train/test splits (80/20)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TF-IDF feature extraction using unigrams and bigrams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Algorithms tested: Logistic Regression, Multinomial Naive Bayes, and Random Forest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Cross-validation using five-folds, tuning of </a:t>
            </a:r>
            <a:r>
              <a:rPr lang="en-US" dirty="0" err="1"/>
              <a:t>hyperparameters</a:t>
            </a:r>
            <a:endParaRPr lang="en-US" dirty="0"/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Evaluation of the algorithm on the independent test set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lang="en-US" dirty="0"/>
              <a:t>- Features analysis, analysis of words/bigrams, hotels analysis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Model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Logistic Regression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Linear classifier suited to high-dimensional sparse TF-IDF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Coefficient values support feature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Multinomial Naive Bayes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Text-classification model based on feature probabilities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Computationally efficient for large text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Random Forest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Ensemble of decision trees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Provides a non-linear modelling perspective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Feature representation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TF-IDF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Unigrams + bigrams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50,000 features in training and test matrices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Validation &amp; Hyperparameter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Cross-validation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Five-fold stratified CV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F1-score used because of class imbalance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Logistic Regression mean F1 = 0.9283 (SD 0.0012)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Naive Bayes mean F1 = 0.9134 (SD 0.0010)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Random Forest mean F1 = 0.8779 (SD 0.0046)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Best configurations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Logistic Regression: C = 1.0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Multinomial Naive Bayes: alpha = 0.5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Random Forest: 300 trees, max_depth = 30, min_samples_split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Integrity of evaluation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Hyperparameter tuning used training data only.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The independent 10,000-review test set was not used for model selection.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3130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rPr dirty="0" smtClean="0"/>
              <a:t> </a:t>
            </a:r>
            <a:r>
              <a:rPr dirty="0"/>
              <a:t>Evaluation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306933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Logistic Regression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Accuracy: 88.29%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Precision: 89.25%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Recall: 97.65%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F1: 0.9326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ROC-AUC: 0.9143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8952" y="1627632"/>
            <a:ext cx="306933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Multinomial Naive Bayes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Accuracy: 87.17%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Precision: 87.96%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Recall: 97.94%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F1: 0.9268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ROC-AUC: 0.8982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7511" y="1627632"/>
            <a:ext cx="306933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Random Forest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Accuracy: 81.67%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Precision: 94.23%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Recall: 82.99%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F1: 0.8825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ROC-AUC: 0.8821</a:t>
            </a: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676" y="3799331"/>
            <a:ext cx="4096997" cy="23455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Class-Level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Logistic Regression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Positive recall: 0.98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Negative recall: 0.43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Negative F1: 0.55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Multinomial Naive Bayes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Positive recall: 0.98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Negative recall: 0.35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Negative F1: 0.48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Random Forest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Positive recall: 0.83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Negative recall: 0.75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Negative F1: 0.58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4050791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Interpretation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The sentiment classes are strongly imbalanced.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The models behave differently for minority negative reviews.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Precision, recall and F1 provide additional information beyond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Textual &amp; Hotel-Related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Positive-associated terms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Examples reported in the thesis include: excellent, great, comfortable, helpful.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27632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Negative-associated terms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Examples include: poor, rude, dirty, bad, uncomfortable.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70574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rPr dirty="0"/>
              <a:t>Recurring hotel factors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Staff &amp; Service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Room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Location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Breakfast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Comfort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Cleanliness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Facilities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Value for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196296"/>
            <a:ext cx="49286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rPr dirty="0"/>
              <a:t>Important interpretation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Factors occur in both positive and negative reviews.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rPr dirty="0"/>
              <a:t>• Frequency indicates textual association, not causal effect.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Research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lang="en-US" dirty="0"/>
              <a:t>Conducts an empirical study comparing the performance of three traditional classifiers based on a consistent TF-IDF representation.  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lang="en-US" dirty="0"/>
              <a:t>Uses a training/testing scheme that includes stratified cross-validation and independent testing.  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lang="en-US" dirty="0"/>
              <a:t>Examines the link between sentiment classification and customer experience text analysis.  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lang="en-US" dirty="0"/>
              <a:t>Proposes a computational workflow based on an openly accessible collection of hotel reviews.  </a:t>
            </a:r>
          </a:p>
          <a:p>
            <a:pPr marL="285750" indent="-285750">
              <a:spcAft>
                <a:spcPts val="1000"/>
              </a:spcAft>
              <a:buFont typeface="Arial" pitchFamily="34" charset="0"/>
              <a:buChar char="•"/>
              <a:defRPr sz="1700">
                <a:solidFill>
                  <a:srgbClr val="F5F7FA"/>
                </a:solidFill>
              </a:defRPr>
            </a:pPr>
            <a:r>
              <a:rPr lang="en-US" dirty="0"/>
              <a:t>Illustrates the significance of class evaluation when the number of positive and negative reviews is imbalanced.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2A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BCD"/>
                </a:solidFill>
              </a:defRPr>
            </a:pPr>
            <a:r>
              <a:t>GISMA University of Applied Sciences • Department of Computer &amp; Data Sciences •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580121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rPr lang="en-US" dirty="0"/>
              <a:t>• The sentiment tags are based on the ratings of the reviewers and not on the sentiment tagging of the texts linguistically.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rPr lang="en-US" dirty="0"/>
              <a:t>• It is secondary data, as the original data collection process was out of the researcher’s control.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rPr lang="en-US" dirty="0"/>
              <a:t>• European hotel review data cannot be generalized to all users across the globe.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rPr lang="en-US" dirty="0"/>
              <a:t>• There is no comprehensive comparison possible between TF-IDF, traditional machine learning models, and transformers.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rPr lang="en-US" dirty="0"/>
              <a:t>• There could be some simplification involved in the combining of the review text.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rPr lang="en-US" dirty="0"/>
              <a:t>• Textual relations may be discovered through factor analysis, yet causality cannot be claimed.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rPr lang="en-US" dirty="0"/>
              <a:t>• Numerical ratings and review texts may capture different aspects of the user experience.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Future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4928616" cy="111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Better labels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Use manually annotated sentiment rather than relying only on rating-derived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27632"/>
            <a:ext cx="4928616" cy="111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Advanced NLP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Use contextual language models / transformer architectures for richer semantic representation.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243072"/>
            <a:ext cx="4928616" cy="111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Aspect-based analysis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Measure hotel factors separately and improve factor identification beyond keyword 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243072"/>
            <a:ext cx="4928616" cy="111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Broader validation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Test across datasets, regions and review platforms.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858511"/>
            <a:ext cx="4928616" cy="1112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0B4AA"/>
                </a:solidFill>
              </a:defRPr>
            </a:pPr>
            <a:r>
              <a:t>Model robustness</a:t>
            </a:r>
          </a:p>
          <a:p>
            <a:pPr>
              <a:spcAft>
                <a:spcPts val="500"/>
              </a:spcAft>
              <a:defRPr sz="1280">
                <a:solidFill>
                  <a:srgbClr val="F5F7FA"/>
                </a:solidFill>
              </a:defRPr>
            </a:pPr>
            <a:r>
              <a:t>• Further investigate class imbalance and minority-class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806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rPr dirty="0" smtClean="0"/>
              <a:t>Conclusion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Machine-learning algorithms based on traditional TF-IDF demonstrate great predictive power for the task of classifying hotel reviews carried out within this paper.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Logistic Regression produces an F1-score of 0.9326 and an ROC-AUC of 0.9143 for the final test data.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The paper highlights recurring elements of the customers’ experience such as staff/Service, Room, Location, Breakfast, Comfort, Cleanliness, Facilities, and Value for Money.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Combining sentiment classification with textual factor analysis contributes to the broader picture of the information conveyed by hotel reviews.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The results need to be considered in the context of the data used in the experiment and its methodology.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806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rPr dirty="0" smtClean="0"/>
              <a:t>Conclusion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98480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Machine-learning algorithms based on traditional TF-IDF demonstrate great predictive power for the task of classifying hotel reviews carried out within this paper.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Logistic Regression produces an F1-score of 0.9326 and an ROC-AUC of 0.9143 for the final test data.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The paper highlights recurring elements of the customers’ experience such as staff/Service, Room, Location, Breakfast, Comfort, Cleanliness, Facilities, and Value for Money.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Combining sentiment classification with textual factor analysis contributes to the broader picture of the information conveyed by hotel reviews.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US" dirty="0"/>
              <a:t>• The results need to be considered in the context of the data used in the experiment and its methodology.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2098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7FA"/>
                </a:solidFill>
              </a:defRPr>
            </a:pPr>
            <a:r>
              <a:t>THANK YOU</a:t>
            </a:r>
          </a:p>
          <a:p>
            <a:pPr>
              <a:defRPr sz="2500">
                <a:solidFill>
                  <a:srgbClr val="40B4AA"/>
                </a:solidFill>
              </a:defRPr>
            </a:pPr>
            <a:r>
              <a:t>Questions &amp; Discussion</a:t>
            </a:r>
          </a:p>
          <a:p>
            <a:pPr>
              <a:defRPr sz="1700">
                <a:solidFill>
                  <a:srgbClr val="AEBBCD"/>
                </a:solidFill>
              </a:defRPr>
            </a:pPr>
            <a:r>
              <a:t>Sentiment Analysis of Online Hotel Reviews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2A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BCD"/>
                </a:solidFill>
              </a:defRPr>
            </a:pPr>
            <a:r>
              <a:t>GISMA University of Applied Sciences • Department of Computer &amp; Data Sciences •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1476</Words>
  <Application>Microsoft Office PowerPoint</Application>
  <PresentationFormat>Custom</PresentationFormat>
  <Paragraphs>179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Amit Sharma</cp:lastModifiedBy>
  <cp:revision>7</cp:revision>
  <dcterms:created xsi:type="dcterms:W3CDTF">2013-01-27T09:14:16Z</dcterms:created>
  <dcterms:modified xsi:type="dcterms:W3CDTF">2026-09-24T13:30:00Z</dcterms:modified>
  <cp:category/>
</cp:coreProperties>
</file>